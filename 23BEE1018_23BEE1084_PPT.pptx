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65" r:id="rId4"/>
    <p:sldId id="258" r:id="rId5"/>
    <p:sldId id="259" r:id="rId6"/>
    <p:sldId id="270" r:id="rId7"/>
    <p:sldId id="268" r:id="rId8"/>
    <p:sldId id="269" r:id="rId9"/>
    <p:sldId id="261" r:id="rId10"/>
    <p:sldId id="262" r:id="rId11"/>
    <p:sldId id="264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537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70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175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06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5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33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28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70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5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8160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2371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50671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22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140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65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68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AUTOMATIC LIGHT-POST HEALING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255115"/>
            <a:ext cx="5826719" cy="1096899"/>
          </a:xfrm>
        </p:spPr>
        <p:txBody>
          <a:bodyPr>
            <a:normAutofit lnSpcReduction="10000"/>
          </a:bodyPr>
          <a:lstStyle/>
          <a:p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Embedded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Systems Design </a:t>
            </a:r>
            <a:r>
              <a:rPr dirty="0" smtClean="0">
                <a:latin typeface="Cambria" panose="02040503050406030204" pitchFamily="18" charset="0"/>
                <a:ea typeface="Cambria" panose="02040503050406030204" pitchFamily="18" charset="0"/>
              </a:rPr>
              <a:t>Project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Ritvik </a:t>
            </a:r>
            <a:r>
              <a:rPr dirty="0" smtClean="0">
                <a:latin typeface="Cambria" panose="02040503050406030204" pitchFamily="18" charset="0"/>
                <a:ea typeface="Cambria" panose="02040503050406030204" pitchFamily="18" charset="0"/>
              </a:rPr>
              <a:t>Anish</a:t>
            </a:r>
            <a:endParaRPr lang="en-GB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Akshaya 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street lighting systems lack fault intelligence.</a:t>
            </a:r>
          </a:p>
          <a:p>
            <a:pPr lvl="1"/>
            <a:r>
              <a:t>Single lamp failure can disrupt entire street segments.</a:t>
            </a:r>
          </a:p>
          <a:p>
            <a:pPr lvl="1"/>
            <a:r>
              <a:t>Manual detection causes delayed maintenance.</a:t>
            </a:r>
          </a:p>
          <a:p>
            <a:pPr lvl="1"/>
            <a:r>
              <a:t>Increased downtime and public safety risks.</a:t>
            </a:r>
          </a:p>
          <a:p>
            <a:pPr lvl="1"/>
            <a:r>
              <a:t>Need for autonomous fault detection and recovery.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intelligent street lighting system.</a:t>
            </a:r>
          </a:p>
          <a:p>
            <a:pPr lvl="1"/>
            <a:r>
              <a:t>Implement automatic fault detection.</a:t>
            </a:r>
          </a:p>
          <a:p>
            <a:pPr lvl="1"/>
            <a:r>
              <a:t>Ensure uninterrupted lighting.</a:t>
            </a:r>
          </a:p>
          <a:p>
            <a:pPr lvl="1"/>
            <a:r>
              <a:t>Reduce maintenance delays.</a:t>
            </a:r>
          </a:p>
          <a:p>
            <a:pPr lvl="1"/>
            <a:r>
              <a:t>Enable scalable smart-city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cities require resilient infrastructure.</a:t>
            </a:r>
          </a:p>
          <a:p>
            <a:pPr lvl="1"/>
            <a:r>
              <a:t>Each light post acts as an intelligent node.</a:t>
            </a:r>
          </a:p>
          <a:p>
            <a:pPr lvl="1"/>
            <a:r>
              <a:t>Real-time monitoring of voltage and current.</a:t>
            </a:r>
          </a:p>
          <a:p>
            <a:pPr lvl="1"/>
            <a:r>
              <a:t>Automatic fault detection and isolation.</a:t>
            </a:r>
          </a:p>
          <a:p>
            <a:pPr lvl="1"/>
            <a:r>
              <a:t>Ensures uninterrupted lighting.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Components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dirty="0" smtClean="0">
                <a:latin typeface="Cambria" panose="02040503050406030204" pitchFamily="18" charset="0"/>
                <a:ea typeface="Cambria" panose="02040503050406030204" pitchFamily="18" charset="0"/>
              </a:rPr>
              <a:t>ESP32 Microcontroller</a:t>
            </a:r>
            <a:endParaRPr lang="en-GB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+mj-lt"/>
              <a:buAutoNum type="arabicPeriod"/>
            </a:pPr>
            <a:r>
              <a:rPr dirty="0" smtClean="0">
                <a:latin typeface="Cambria" panose="02040503050406030204" pitchFamily="18" charset="0"/>
                <a:ea typeface="Cambria" panose="02040503050406030204" pitchFamily="18" charset="0"/>
              </a:rPr>
              <a:t>Current 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Sensor (INA219 / </a:t>
            </a:r>
            <a:r>
              <a:rPr dirty="0" smtClean="0">
                <a:latin typeface="Cambria" panose="02040503050406030204" pitchFamily="18" charset="0"/>
                <a:ea typeface="Cambria" panose="02040503050406030204" pitchFamily="18" charset="0"/>
              </a:rPr>
              <a:t>ACS712)</a:t>
            </a:r>
            <a:endParaRPr lang="en-GB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+mj-lt"/>
              <a:buAutoNum type="arabicPeriod"/>
            </a:pPr>
            <a:r>
              <a:rPr dirty="0" smtClean="0">
                <a:latin typeface="Cambria" panose="02040503050406030204" pitchFamily="18" charset="0"/>
                <a:ea typeface="Cambria" panose="02040503050406030204" pitchFamily="18" charset="0"/>
              </a:rPr>
              <a:t>Voltage 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Sensor </a:t>
            </a:r>
            <a:r>
              <a:rPr dirty="0" smtClean="0">
                <a:latin typeface="Cambria" panose="02040503050406030204" pitchFamily="18" charset="0"/>
                <a:ea typeface="Cambria" panose="02040503050406030204" pitchFamily="18" charset="0"/>
              </a:rPr>
              <a:t>Module</a:t>
            </a:r>
            <a:endParaRPr lang="en-GB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+mj-lt"/>
              <a:buAutoNum type="arabicPeriod"/>
            </a:pPr>
            <a:r>
              <a:rPr dirty="0" smtClean="0">
                <a:latin typeface="Cambria" panose="02040503050406030204" pitchFamily="18" charset="0"/>
                <a:ea typeface="Cambria" panose="02040503050406030204" pitchFamily="18" charset="0"/>
              </a:rPr>
              <a:t>Relay 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/ MOSFET Switching </a:t>
            </a:r>
            <a:r>
              <a:rPr dirty="0" smtClean="0">
                <a:latin typeface="Cambria" panose="02040503050406030204" pitchFamily="18" charset="0"/>
                <a:ea typeface="Cambria" panose="02040503050406030204" pitchFamily="18" charset="0"/>
              </a:rPr>
              <a:t>Circuit</a:t>
            </a:r>
            <a:endParaRPr lang="en-GB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+mj-lt"/>
              <a:buAutoNum type="arabicPeriod"/>
            </a:pPr>
            <a:r>
              <a:rPr dirty="0" smtClean="0">
                <a:latin typeface="Cambria" panose="02040503050406030204" pitchFamily="18" charset="0"/>
                <a:ea typeface="Cambria" panose="02040503050406030204" pitchFamily="18" charset="0"/>
              </a:rPr>
              <a:t>LED 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Light </a:t>
            </a:r>
            <a:r>
              <a:rPr dirty="0" smtClean="0">
                <a:latin typeface="Cambria" panose="02040503050406030204" pitchFamily="18" charset="0"/>
                <a:ea typeface="Cambria" panose="02040503050406030204" pitchFamily="18" charset="0"/>
              </a:rPr>
              <a:t>Module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 – Street Light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Models  (3 </a:t>
            </a:r>
            <a:r>
              <a:rPr lang="en-GB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Nos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GB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+mj-lt"/>
              <a:buAutoNum type="arabicPeriod"/>
            </a:pPr>
            <a:r>
              <a:rPr dirty="0" smtClean="0">
                <a:latin typeface="Cambria" panose="02040503050406030204" pitchFamily="18" charset="0"/>
                <a:ea typeface="Cambria" panose="02040503050406030204" pitchFamily="18" charset="0"/>
              </a:rPr>
              <a:t>Backup Battery</a:t>
            </a:r>
            <a:endParaRPr lang="en-GB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+mj-lt"/>
              <a:buAutoNum type="arabicPeriod"/>
            </a:pPr>
            <a:r>
              <a:rPr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WiFi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dirty="0" smtClean="0">
                <a:latin typeface="Cambria" panose="02040503050406030204" pitchFamily="18" charset="0"/>
                <a:ea typeface="Cambria" panose="02040503050406030204" pitchFamily="18" charset="0"/>
              </a:rPr>
              <a:t>Module 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(Optional</a:t>
            </a:r>
            <a:r>
              <a:rPr dirty="0" smtClean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GB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Inspiration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SE_project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79251" y="1649238"/>
            <a:ext cx="7087027" cy="4012260"/>
          </a:xfrm>
        </p:spPr>
      </p:pic>
    </p:spTree>
    <p:extLst>
      <p:ext uri="{BB962C8B-B14F-4D97-AF65-F5344CB8AC3E}">
        <p14:creationId xmlns:p14="http://schemas.microsoft.com/office/powerpoint/2010/main" val="2814391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035" y="1575880"/>
            <a:ext cx="7305474" cy="4426087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Hardware prototype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115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Working model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ESD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6579" y="1622866"/>
            <a:ext cx="7544430" cy="425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884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Proposed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Cambria" panose="02040503050406030204" pitchFamily="18" charset="0"/>
                <a:ea typeface="Cambria" panose="02040503050406030204" pitchFamily="18" charset="0"/>
              </a:rPr>
              <a:t>Scaled-down hardware prototype with 3–5 nodes.</a:t>
            </a:r>
          </a:p>
          <a:p>
            <a:pPr lvl="1"/>
            <a:r>
              <a:rPr sz="1800" dirty="0">
                <a:latin typeface="Cambria" panose="02040503050406030204" pitchFamily="18" charset="0"/>
                <a:ea typeface="Cambria" panose="02040503050406030204" pitchFamily="18" charset="0"/>
              </a:rPr>
              <a:t>Fault detection and isolation logic.</a:t>
            </a:r>
          </a:p>
          <a:p>
            <a:pPr lvl="1"/>
            <a:r>
              <a:rPr sz="1800" dirty="0">
                <a:latin typeface="Cambria" panose="02040503050406030204" pitchFamily="18" charset="0"/>
                <a:ea typeface="Cambria" panose="02040503050406030204" pitchFamily="18" charset="0"/>
              </a:rPr>
              <a:t>Automatic power rerouting.</a:t>
            </a:r>
          </a:p>
          <a:p>
            <a:pPr lvl="1"/>
            <a:r>
              <a:rPr sz="1800" dirty="0">
                <a:latin typeface="Cambria" panose="02040503050406030204" pitchFamily="18" charset="0"/>
                <a:ea typeface="Cambria" panose="02040503050406030204" pitchFamily="18" charset="0"/>
              </a:rPr>
              <a:t>Embedded firmware with watchdog reliability.</a:t>
            </a:r>
          </a:p>
          <a:p>
            <a:pPr lvl="1"/>
            <a:r>
              <a:rPr sz="1800" dirty="0">
                <a:latin typeface="Cambria" panose="02040503050406030204" pitchFamily="18" charset="0"/>
                <a:ea typeface="Cambria" panose="02040503050406030204" pitchFamily="18" charset="0"/>
              </a:rPr>
              <a:t>Live fault demonstration.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Plan of </a:t>
            </a:r>
            <a:r>
              <a:rPr dirty="0" smtClean="0">
                <a:latin typeface="Cambria" panose="02040503050406030204" pitchFamily="18" charset="0"/>
                <a:ea typeface="Cambria" panose="02040503050406030204" pitchFamily="18" charset="0"/>
              </a:rPr>
              <a:t>Action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2063314"/>
            <a:ext cx="6347714" cy="3880773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System planning and architecture design.</a:t>
            </a:r>
          </a:p>
          <a:p>
            <a:pPr lvl="1"/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Define failure scenarios.</a:t>
            </a:r>
          </a:p>
          <a:p>
            <a:pPr lvl="1"/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Component selection and procurement.</a:t>
            </a:r>
          </a:p>
          <a:p>
            <a:pPr lvl="1"/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Control logic flowchart development</a:t>
            </a:r>
            <a:r>
              <a:rPr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GB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Hardware assembly of light nodes.</a:t>
            </a:r>
          </a:p>
          <a:p>
            <a:pPr lvl="1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Sensor integration.</a:t>
            </a:r>
          </a:p>
          <a:p>
            <a:pPr lvl="1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Embedded programming for fault detection.</a:t>
            </a:r>
          </a:p>
          <a:p>
            <a:pPr lvl="1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Relay control implementation.</a:t>
            </a:r>
          </a:p>
          <a:p>
            <a:pPr lvl="1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Testing communication module.</a:t>
            </a:r>
          </a:p>
          <a:p>
            <a:pPr lvl="1"/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Testing &amp;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Normal operation testing.</a:t>
            </a:r>
          </a:p>
          <a:p>
            <a:pPr lvl="1"/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Single node failure simulation.</a:t>
            </a:r>
          </a:p>
          <a:p>
            <a:pPr lvl="1"/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Multiple failure testing.</a:t>
            </a:r>
          </a:p>
          <a:p>
            <a:pPr lvl="1"/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Measure detection &amp; recovery time.</a:t>
            </a:r>
          </a:p>
          <a:p>
            <a:pPr lvl="1"/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Live healing demonstration.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Small-scale prototype network.</a:t>
            </a:r>
          </a:p>
          <a:p>
            <a:pPr lvl="1"/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Fault detection and recovery analysis.</a:t>
            </a:r>
          </a:p>
          <a:p>
            <a:pPr lvl="1"/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Performance metrics evaluation.</a:t>
            </a:r>
          </a:p>
          <a:p>
            <a:pPr lvl="1"/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Optional </a:t>
            </a:r>
            <a:r>
              <a:rPr dirty="0" err="1">
                <a:latin typeface="Cambria" panose="02040503050406030204" pitchFamily="18" charset="0"/>
                <a:ea typeface="Cambria" panose="02040503050406030204" pitchFamily="18" charset="0"/>
              </a:rPr>
              <a:t>IoT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 dashboard integration</a:t>
            </a:r>
            <a:r>
              <a:rPr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GB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+mj-lt"/>
              <a:buAutoNum type="arabicPeriod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AI-based predictive maintenance.</a:t>
            </a:r>
          </a:p>
          <a:p>
            <a:pPr lvl="1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Solar-powered autonomous poles.</a:t>
            </a:r>
          </a:p>
          <a:p>
            <a:pPr lvl="1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City-wide smart lighting integration.</a:t>
            </a:r>
          </a:p>
          <a:p>
            <a:pPr lvl="1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Centralized monitoring system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</TotalTime>
  <Words>290</Words>
  <Application>Microsoft Office PowerPoint</Application>
  <PresentationFormat>On-screen Show (4:3)</PresentationFormat>
  <Paragraphs>66</Paragraphs>
  <Slides>12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Cambria</vt:lpstr>
      <vt:lpstr>Trebuchet MS</vt:lpstr>
      <vt:lpstr>Wingdings 3</vt:lpstr>
      <vt:lpstr>Facet</vt:lpstr>
      <vt:lpstr>AUTOMATIC LIGHT-POST HEALING SYSTEM</vt:lpstr>
      <vt:lpstr>Problem Statement</vt:lpstr>
      <vt:lpstr>Objectives</vt:lpstr>
      <vt:lpstr>Introduction</vt:lpstr>
      <vt:lpstr>Components Required</vt:lpstr>
      <vt:lpstr>Inspiration</vt:lpstr>
      <vt:lpstr>PowerPoint Presentation</vt:lpstr>
      <vt:lpstr>PowerPoint Presentation</vt:lpstr>
      <vt:lpstr>Proposed Work</vt:lpstr>
      <vt:lpstr>Plan of Action</vt:lpstr>
      <vt:lpstr>Testing &amp; Demonstration</vt:lpstr>
      <vt:lpstr>Scope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LIGHT-POST HEALING SYSTEM</dc:title>
  <dc:subject/>
  <dc:creator/>
  <cp:keywords/>
  <dc:description>generated using python-pptx</dc:description>
  <cp:lastModifiedBy>Microsoft account</cp:lastModifiedBy>
  <cp:revision>7</cp:revision>
  <dcterms:created xsi:type="dcterms:W3CDTF">2013-01-27T09:14:16Z</dcterms:created>
  <dcterms:modified xsi:type="dcterms:W3CDTF">2026-04-17T17:07:34Z</dcterms:modified>
  <cp:category/>
</cp:coreProperties>
</file>